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531e612e9f462c" /><Relationship Type="http://schemas.openxmlformats.org/officeDocument/2006/relationships/extended-properties" Target="/docProps/app.xml" Id="R9d5b8c5249a84865" /><Relationship Type="http://schemas.openxmlformats.org/officeDocument/2006/relationships/officeDocument" Target="/ppt/presentation.xml" Id="R13439f3abee143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5e3e095364a62"/>
  </p:sldMasterIdLst>
  <p:notesMasterIdLst>
    <p:notesMasterId xmlns:r="http://schemas.openxmlformats.org/officeDocument/2006/relationships" r:id="R5f59a63df9f34ce9"/>
  </p:notesMasterIdLst>
  <p:sldIdLst>
    <p:sldId xmlns:r="http://schemas.openxmlformats.org/officeDocument/2006/relationships" id="256" r:id="R75a386e125b8426e"/>
    <p:sldId xmlns:r="http://schemas.openxmlformats.org/officeDocument/2006/relationships" id="257" r:id="R07b1adf328524711"/>
    <p:sldId xmlns:r="http://schemas.openxmlformats.org/officeDocument/2006/relationships" id="258" r:id="R03f4e74c09914b2f"/>
    <p:sldId xmlns:r="http://schemas.openxmlformats.org/officeDocument/2006/relationships" id="259" r:id="Ra9398f1d34334f17"/>
    <p:sldId xmlns:r="http://schemas.openxmlformats.org/officeDocument/2006/relationships" id="260" r:id="R289d8fb0fafe495a"/>
    <p:sldId xmlns:r="http://schemas.openxmlformats.org/officeDocument/2006/relationships" id="261" r:id="Rdaa97bde67934c20"/>
    <p:sldId xmlns:r="http://schemas.openxmlformats.org/officeDocument/2006/relationships" id="262" r:id="R28f1af341d7e4aeb"/>
    <p:sldId xmlns:r="http://schemas.openxmlformats.org/officeDocument/2006/relationships" id="263" r:id="Rbeafac431a094cc7"/>
    <p:sldId xmlns:r="http://schemas.openxmlformats.org/officeDocument/2006/relationships" id="264" r:id="R4f50d5a9311245ec"/>
    <p:sldId xmlns:r="http://schemas.openxmlformats.org/officeDocument/2006/relationships" id="265" r:id="R1f401db9a12f42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7c15f336a4269" /><Relationship Type="http://schemas.openxmlformats.org/officeDocument/2006/relationships/slideMaster" Target="/ppt/slideMasters/slideMaster1.xml" Id="R65e5e3e095364a62" /><Relationship Type="http://schemas.openxmlformats.org/officeDocument/2006/relationships/notesMaster" Target="/ppt/notesMasters/notesMaster1.xml" Id="R5f59a63df9f34ce9" /><Relationship Type="http://schemas.openxmlformats.org/officeDocument/2006/relationships/presProps" Target="/ppt/presProps.xml" Id="R14416ce0c27a47ea" /><Relationship Type="http://schemas.openxmlformats.org/officeDocument/2006/relationships/tableStyles" Target="/ppt/tableStyles.xml" Id="Rafcc4579646e4ec2" /><Relationship Type="http://schemas.openxmlformats.org/officeDocument/2006/relationships/slide" Target="/ppt/slides/slide1.xml" Id="R75a386e125b8426e" /><Relationship Type="http://schemas.openxmlformats.org/officeDocument/2006/relationships/slide" Target="/ppt/slides/slide2.xml" Id="R07b1adf328524711" /><Relationship Type="http://schemas.openxmlformats.org/officeDocument/2006/relationships/slide" Target="/ppt/slides/slide3.xml" Id="R03f4e74c09914b2f" /><Relationship Type="http://schemas.openxmlformats.org/officeDocument/2006/relationships/slide" Target="/ppt/slides/slide4.xml" Id="Ra9398f1d34334f17" /><Relationship Type="http://schemas.openxmlformats.org/officeDocument/2006/relationships/slide" Target="/ppt/slides/slide5.xml" Id="R289d8fb0fafe495a" /><Relationship Type="http://schemas.openxmlformats.org/officeDocument/2006/relationships/slide" Target="/ppt/slides/slide6.xml" Id="Rdaa97bde67934c20" /><Relationship Type="http://schemas.openxmlformats.org/officeDocument/2006/relationships/slide" Target="/ppt/slides/slide7.xml" Id="R28f1af341d7e4aeb" /><Relationship Type="http://schemas.openxmlformats.org/officeDocument/2006/relationships/slide" Target="/ppt/slides/slide8.xml" Id="Rbeafac431a094cc7" /><Relationship Type="http://schemas.openxmlformats.org/officeDocument/2006/relationships/slide" Target="/ppt/slides/slide9.xml" Id="R4f50d5a9311245ec" /><Relationship Type="http://schemas.openxmlformats.org/officeDocument/2006/relationships/slide" Target="/ppt/slides/slide10.xml" Id="R1f401db9a12f42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15757e129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ec81bb589c431b" /><Relationship Type="http://schemas.openxmlformats.org/officeDocument/2006/relationships/notesMaster" Target="/ppt/notesMasters/notesMaster1.xml" Id="R61a0fa60ad62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2e712821114779" /><Relationship Type="http://schemas.openxmlformats.org/officeDocument/2006/relationships/notesMaster" Target="/ppt/notesMasters/notesMaster1.xml" Id="Rbc908db93125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4a73f8fa3d4707" /><Relationship Type="http://schemas.openxmlformats.org/officeDocument/2006/relationships/notesMaster" Target="/ppt/notesMasters/notesMaster1.xml" Id="R7cf057ee7105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023092309a4d92" /><Relationship Type="http://schemas.openxmlformats.org/officeDocument/2006/relationships/notesMaster" Target="/ppt/notesMasters/notesMaster1.xml" Id="Rf39f4b891f4743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f5d2d953d84772" /><Relationship Type="http://schemas.openxmlformats.org/officeDocument/2006/relationships/notesMaster" Target="/ppt/notesMasters/notesMaster1.xml" Id="R2060ef95c4e4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99db888124daf" /><Relationship Type="http://schemas.openxmlformats.org/officeDocument/2006/relationships/notesMaster" Target="/ppt/notesMasters/notesMaster1.xml" Id="R4f25336ea2e04a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9c2fed08af4efb" /><Relationship Type="http://schemas.openxmlformats.org/officeDocument/2006/relationships/notesMaster" Target="/ppt/notesMasters/notesMaster1.xml" Id="R19458ad81cb049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f43ce7e734a71" /><Relationship Type="http://schemas.openxmlformats.org/officeDocument/2006/relationships/notesMaster" Target="/ppt/notesMasters/notesMaster1.xml" Id="Rf3e6700969f141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e87249ac64926" /><Relationship Type="http://schemas.openxmlformats.org/officeDocument/2006/relationships/notesMaster" Target="/ppt/notesMasters/notesMaster1.xml" Id="R2d0abe9ae4364e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f1baa0da484134" /><Relationship Type="http://schemas.openxmlformats.org/officeDocument/2006/relationships/notesMaster" Target="/ppt/notesMasters/notesMaster1.xml" Id="Rf9c7bacc0ce0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56d78f4ae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3c2c4fc7c34df6" /><Relationship Type="http://schemas.openxmlformats.org/officeDocument/2006/relationships/slideLayout" Target="/ppt/slideLayouts/slideLayout1.xml" Id="R07129e765c2143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29e765c2143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774fc4b0444b7" /><Relationship Type="http://schemas.openxmlformats.org/officeDocument/2006/relationships/notesSlide" Target="/ppt/notesSlides/notesSlide1.xml" Id="R5a217312b5b4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02d9d7d0c4045" /><Relationship Type="http://schemas.openxmlformats.org/officeDocument/2006/relationships/notesSlide" Target="/ppt/notesSlides/notesSlide2.xml" Id="R2a9bfc92616045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eddfc4d0b41ee" /><Relationship Type="http://schemas.openxmlformats.org/officeDocument/2006/relationships/notesSlide" Target="/ppt/notesSlides/notesSlide3.xml" Id="R6eccfe00901d48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5977f7ff24477" /><Relationship Type="http://schemas.openxmlformats.org/officeDocument/2006/relationships/notesSlide" Target="/ppt/notesSlides/notesSlide4.xml" Id="R71b49505128846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b441c25248a5" /><Relationship Type="http://schemas.openxmlformats.org/officeDocument/2006/relationships/notesSlide" Target="/ppt/notesSlides/notesSlide5.xml" Id="R6cb8a1ac95ef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cb7f9676840ab" /><Relationship Type="http://schemas.openxmlformats.org/officeDocument/2006/relationships/notesSlide" Target="/ppt/notesSlides/notesSlide6.xml" Id="Re7c6a2975d4a41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a06b996ef4755" /><Relationship Type="http://schemas.openxmlformats.org/officeDocument/2006/relationships/notesSlide" Target="/ppt/notesSlides/notesSlide7.xml" Id="R4585496cdaed45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eb6026d1644d5" /><Relationship Type="http://schemas.openxmlformats.org/officeDocument/2006/relationships/notesSlide" Target="/ppt/notesSlides/notesSlide8.xml" Id="R41b3e10d4b9241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a8e28bad04a43" /><Relationship Type="http://schemas.openxmlformats.org/officeDocument/2006/relationships/notesSlide" Target="/ppt/notesSlides/notesSlide9.xml" Id="R9fd6685f5fe641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b47a6405f49aa" /><Relationship Type="http://schemas.openxmlformats.org/officeDocument/2006/relationships/notesSlide" Target="/ppt/notesSlides/notesSlide10.xml" Id="R1bf80c26832c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12197-6EBC-4093-B4C3-869E75D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4616"/>
                </a:solidFill>
              </a:defRPr>
            </a:pPr>
            <a:r>
              <a:rPr sz="1350" b="1">
                <a:solidFill>
                  <a:srgbClr val="FA4616"/>
                </a:solidFill>
              </a:rPr>
              <a:t>UiPath AgentHack | Track 3: Test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F5AF5-F86D-4215-A8E1-DA962C38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76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7111F"/>
                </a:solidFill>
              </a:defRPr>
            </a:pPr>
            <a:r>
              <a:rPr sz="4800" b="1">
                <a:solidFill>
                  <a:srgbClr val="07111F"/>
                </a:solidFill>
              </a:rPr>
              <a:t>Talos Test</a:t>
            </a:r>
          </a:p>
          <a:p xmlns:a="http://schemas.openxmlformats.org/drawingml/2006/main">
            <a:pPr algn="l">
              <a:defRPr sz="4800" b="1">
                <a:solidFill>
                  <a:srgbClr val="07111F"/>
                </a:solidFill>
              </a:defRPr>
            </a:pPr>
            <a:r>
              <a:rPr sz="4800" b="1">
                <a:solidFill>
                  <a:srgbClr val="07111F"/>
                </a:solidFill>
              </a:rPr>
              <a:t>Cloud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A3995-4944-4BDC-B53A-B74B390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241"/>
                </a:solidFill>
              </a:defRPr>
            </a:pPr>
            <a:r>
              <a:rPr sz="1950" b="0">
                <a:solidFill>
                  <a:srgbClr val="263241"/>
                </a:solidFill>
              </a:rPr>
              <a:t>Agentic browser QA that turns exploratory AI runs into governed UiPath Test Cloud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D8DF-C6CE-4912-8F95-43445E43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71550"/>
            <a:ext cx="2876550" cy="36766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D87D1-87A0-4577-AD91-0997AA0B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90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5C4F6-7F9A-42F9-BBA8-E810034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observes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acts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45385-33EE-4F1E-B70E-4D5CF34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94C7D-E6CB-4B43-9E05-3B75374A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UiPath governs the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1D2CF-802C-4B8F-8A10-9206EAD4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B78F4-4962-491C-B782-759BF35D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B8957-2ABA-450D-8F20-05E2F17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6520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0D2E7-07A4-4E28-ACA3-59D12182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The testing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7A5A3-6831-40AF-A16D-95A2F41A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Teams can ship faster than manual QA and scripted regression suites can adapt. AI agents can explore quickly, but raw browser automation is not enterprise-ready unless it produces evidence, governance, and reviewable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D7F01-AF72-40EC-BA4C-2C7C5E50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575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0E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40F72-6265-49C6-9E08-8C04E22B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4616"/>
                </a:solidFill>
              </a:defRPr>
            </a:pPr>
            <a:r>
              <a:rPr sz="1650" b="1">
                <a:solidFill>
                  <a:srgbClr val="FA461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24EA2-7C24-47AE-B95B-E4EEA8FB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</a:defRPr>
            </a:pPr>
            <a:r>
              <a:rPr sz="1950" b="1">
                <a:solidFill>
                  <a:srgbClr val="07111F"/>
                </a:solidFill>
              </a:rPr>
              <a:t>Manual QA falls behind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F6913-9A1F-431F-B2DA-2FC4895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Fast releases create more flows than testers can manually inspect.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7201F-9255-4B31-A98E-08F55E9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32575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0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D653D-BD62-420A-A73C-FB7DEDDA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4616"/>
                </a:solidFill>
              </a:defRPr>
            </a:pPr>
            <a:r>
              <a:rPr sz="1650" b="1">
                <a:solidFill>
                  <a:srgbClr val="FA461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F27AD-2D34-42AE-B56B-15E1B398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</a:defRPr>
            </a:pPr>
            <a:r>
              <a:rPr sz="1950" b="1">
                <a:solidFill>
                  <a:srgbClr val="07111F"/>
                </a:solidFill>
              </a:rPr>
              <a:t>Scripts are brittle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E56BB-F6BE-455F-ADF4-5A821CDB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Selectors, dynamic UI, and auth-heavy apps make maintenance expensive.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FCDC2-7E9E-441F-93F6-FEB49CD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32575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0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C4759-F734-4363-B442-F05FFBB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4616"/>
                </a:solidFill>
              </a:defRPr>
            </a:pPr>
            <a:r>
              <a:rPr sz="1650" b="1">
                <a:solidFill>
                  <a:srgbClr val="FA4616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E649F-7D41-4D7C-AF09-89029BAD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</a:defRPr>
            </a:pPr>
            <a:r>
              <a:rPr sz="1950" b="1">
                <a:solidFill>
                  <a:srgbClr val="07111F"/>
                </a:solidFill>
              </a:rPr>
              <a:t>AI needs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0953D-196D-4972-A6B4-F0AAA09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 browser agent is useful only when its work becomes traceable test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C925E-C159-4BB3-8260-36F26A9D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8F"/>
                </a:solidFill>
              </a:defRPr>
            </a:pPr>
            <a:r>
              <a:rPr sz="1800" b="1">
                <a:solidFill>
                  <a:srgbClr val="183B8F"/>
                </a:solidFill>
              </a:rPr>
              <a:t>Talos was built to connect adaptive testing with UiPath-grade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C66B8-9DE7-4BF6-943F-710BEAB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B2BC1-8BB7-4608-80C4-0A27B20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05C4B-6D11-407B-B647-5ABFEC4D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0080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642A4-448B-4DBC-8046-D7E4000B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What Talos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4F5ED-D880-47E7-A7A4-FC9515B4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Talos converts a natural-language test goal into a browser run, captures evidence as the agent works, and prepares the outcome for UiPath Test Cloud.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C7CEF-9194-4FD7-9595-362EC63D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EB287-B190-4A19-9849-98D7EA8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Tester describes the flow in plain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3A254-E9F1-4748-B7A6-3E2FBA71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52D40-9766-4622-9B6D-8E22617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Browser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E441C-2C72-4C66-865F-C09BDC7E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Talos logs in, navigates, observes, and 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5FE4E-B72C-45DD-8945-6311524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CD410-773B-4416-A682-FBA4D74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22F9F-AAC9-431D-A883-CE1B8BF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43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Steps, screenshots, LLM calls, cost, and issues are captured.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38558-12E2-46FD-BC6D-A5B2C1F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AC7E9-F4C1-4687-AB34-E2E6137F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4616"/>
                </a:solidFill>
              </a:defRPr>
            </a:pPr>
            <a:r>
              <a:rPr sz="1800" b="1">
                <a:solidFill>
                  <a:srgbClr val="FA4616"/>
                </a:solidFill>
              </a:rPr>
              <a:t>UiPath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B26EC-C69D-4F87-A87D-0EF7769C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81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result becomes Test Cloud-ready execution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F758B-6731-447B-A278-7E5606C5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038350" cy="23812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9525">
            <a:solidFill>
              <a:srgbClr val="FF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366DB-401D-4BEA-9E6D-5D7D747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A4616"/>
                </a:solidFill>
              </a:defRPr>
            </a:pPr>
            <a:r>
              <a:rPr sz="1500" b="1">
                <a:solidFill>
                  <a:srgbClr val="FA4616"/>
                </a:solidFill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C7C71-898D-478C-9531-FB9BC42F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AI exploration becomes governed QA signal.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B2D03-44A4-49D7-B0AB-7BA07006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A9FC8-6FDB-4FD7-AC0D-C794D694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BA5FF-C3EF-45C7-8855-9184F8B3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0491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D2705-C51E-42D2-A80B-644ECCC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Why UiPath is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576A-FB68-4934-A4C3-4CCD026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Talos is not a replacement for enterprise test management. It is an agentic testing layer that feeds structured evidence into UiPath Test Cloud.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6E802-B38A-4952-9475-8E7A891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381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E7F01-773F-4709-8DCE-FE54566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Talos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911B0-F570-49D1-8410-8B3F7790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Explores real applications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Captures evidence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Surfaces issues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951E7-E5C1-428A-BD99-F57D5981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4381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9525">
            <a:solidFill>
              <a:srgbClr val="FFD2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1218-BFC5-402B-9C3E-1C7F9BA4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860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4616"/>
                </a:solidFill>
              </a:defRPr>
            </a:pPr>
            <a:r>
              <a:rPr sz="2250" b="1">
                <a:solidFill>
                  <a:srgbClr val="FA4616"/>
                </a:solidFill>
              </a:rPr>
              <a:t>UiPath Test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48F3C-F630-4A78-BAA2-0C1D153F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Owns test sets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Governs execution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Keeps human review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9111B-90F6-4917-A9B3-D293BCB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83B8F"/>
                </a:solidFill>
              </a:defRPr>
            </a:pPr>
            <a:r>
              <a:rPr sz="4050" b="1">
                <a:solidFill>
                  <a:srgbClr val="183B8F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B847E-2ECB-4E55-BD8D-C3D63FA1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8F"/>
                </a:solidFill>
              </a:defRPr>
            </a:pPr>
            <a:r>
              <a:rPr sz="1950" b="1">
                <a:solidFill>
                  <a:srgbClr val="183B8F"/>
                </a:solidFill>
              </a:rPr>
              <a:t>Together: adaptive AI testing with enterprise governance.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876A7-EBB3-4265-B701-C5ABA096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F83CC-81AE-4FCB-AB7A-03571392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F4C2E-A40F-4951-AAA0-A424274B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2138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457D4-2540-4564-8ACF-E8BB4FA8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5157B-7884-4E6C-AFBE-E83DB24E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A production-shaped flow: UI, API, queue, worker, browser agent, data, and UiPath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E074-14FB-400D-99FE-B4BF0D6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08253-2C96-42C1-8A5C-097AAB4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Talos Web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9FF03-7F27-4FE1-9283-C063FDF1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07CEF-E0F0-4479-A83A-4D37078F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API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AD3A6-75F0-4B17-9855-E1F191EE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213F0-7341-451D-8814-0238947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19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Redis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08AD5-113A-48EE-ADA6-8248BDF7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8C48D-7076-4171-8D46-1383B97D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345C6-FD7C-4AD9-B619-A0A85872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9525">
            <a:solidFill>
              <a:srgbClr val="FF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18B9A-E66E-45ED-A8E2-302A93E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19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A4616"/>
                </a:solidFill>
              </a:defRPr>
            </a:pPr>
            <a:r>
              <a:rPr sz="1500" b="1">
                <a:solidFill>
                  <a:srgbClr val="FA4616"/>
                </a:solidFill>
              </a:rPr>
              <a:t>Browser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E16E0-738B-42F0-94F9-DE4A1F6C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42E65-0135-4749-96A6-BB364AB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338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PostgreSQL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Run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CF02E-56B7-4865-89BF-F8BD736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9525">
            <a:solidFill>
              <a:srgbClr val="FF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685F9-6530-4EEB-865E-6913D256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338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A4616"/>
                </a:solidFill>
              </a:defRPr>
            </a:pPr>
            <a:r>
              <a:rPr sz="1350" b="1">
                <a:solidFill>
                  <a:srgbClr val="FA4616"/>
                </a:solidFill>
              </a:rPr>
              <a:t>UiPath Test Cloud</a:t>
            </a:r>
          </a:p>
          <a:p xmlns:a="http://schemas.openxmlformats.org/drawingml/2006/main">
            <a:pPr algn="ctr">
              <a:defRPr sz="1350" b="1">
                <a:solidFill>
                  <a:srgbClr val="FA4616"/>
                </a:solidFill>
              </a:defRPr>
            </a:pPr>
            <a:r>
              <a:rPr sz="1350" b="1">
                <a:solidFill>
                  <a:srgbClr val="FA4616"/>
                </a:solidFill>
              </a:rPr>
              <a:t>Test 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831F9-F603-464D-96DF-DB51EE7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670EF-010C-415D-915C-2E561BB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133C1-8454-4A88-9032-68C04D6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823B9-99FD-4A32-A0EB-103BAD87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3A71F-5C7F-47DD-9173-ADF5E4A2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57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3D0CA-7A0F-4E74-8DC7-46ABDF21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57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DD4A4-9F43-48F3-A1B8-092D172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575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D8C52-B6D7-485C-8B3D-9C0DA40F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575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A6EBB-ECF6-4FE7-9E87-52C276B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8F"/>
                </a:solidFill>
              </a:defRPr>
            </a:pPr>
            <a:r>
              <a:rPr sz="1875" b="1">
                <a:solidFill>
                  <a:srgbClr val="183B8F"/>
                </a:solidFill>
              </a:rPr>
              <a:t>Every agent action becomes inspectable testing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9597B-21EA-4D54-AB0A-58123705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0697A-52D6-4ADE-8803-6CFF3362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149A9-6246-45A8-A756-FBC2F832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4284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B69935-7D4F-4FF5-B62D-F13B7C62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274D2-3945-43E6-A51A-1325179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A4616"/>
                </a:solidFill>
              </a:defRPr>
            </a:pPr>
            <a:r>
              <a:rPr sz="3600" b="1">
                <a:solidFill>
                  <a:srgbClr val="FA4616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FB412-3F63-4BC8-8B5F-6E804D56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764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8F860-D402-4B25-A4BD-94A544CF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Define intent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5A7E3-4905-4219-B5AB-0EA97896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Describe the flow in plain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DBC20-93E6-4B6D-BAFD-92F51EE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192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A4616"/>
                </a:solidFill>
              </a:defRPr>
            </a:pPr>
            <a:r>
              <a:rPr sz="3600" b="1">
                <a:solidFill>
                  <a:srgbClr val="FA461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06DD1-4953-41F4-968F-A3AC211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764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372EA-50F7-4A99-AF47-E0620004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76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Run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7CD3-AE9B-481A-BA62-B9BC2673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0037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Browser agent authenticates and navigates.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8DB82-24B8-489F-AA1A-C77BEDF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192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A4616"/>
                </a:solidFill>
              </a:defRPr>
            </a:pPr>
            <a:r>
              <a:rPr sz="3600" b="1">
                <a:solidFill>
                  <a:srgbClr val="FA461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ED335-2379-4E86-B41B-CEFB0BE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764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A084F-04BB-4D77-AE23-7F9A7A0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Capture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43F08-A565-44DC-9F11-CBC38BA9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Steps, observations, screenshots, and calls are saved.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59BE3-639A-418B-AA59-086511C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6192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A4616"/>
                </a:solidFill>
              </a:defRPr>
            </a:pPr>
            <a:r>
              <a:rPr sz="3600" b="1">
                <a:solidFill>
                  <a:srgbClr val="FA4616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961EF-F2EB-4305-9F9E-72FD3050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764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64D12-6638-4C2C-9235-DD32DBE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76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271DD-E72B-4BAA-855E-4333E67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0037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Human checks what happened before trusting the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14824-464B-4CAC-869B-3EB985C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192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A4616"/>
                </a:solidFill>
              </a:defRPr>
            </a:pPr>
            <a:r>
              <a:rPr sz="3600" b="1">
                <a:solidFill>
                  <a:srgbClr val="FA4616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86E86-49F4-49D4-87F3-5543750C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7642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60C65-F150-4EC8-8E38-F2C5576F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Hand 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22D95-EB5B-4CFD-8811-3CB2848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Artifacts are prepared for UiPath Test Cloud.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6543B-2C3C-4964-B91E-1EFEA4B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43450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01BA4-8727-4CB4-8B29-3CC446F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Human review stays in control of release-impacting decisions.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E56DC-0C98-4C09-99EA-508F9C1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8E77A-4C0E-49A6-A209-EC26E14E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55152-B0AA-41E4-B622-4E89DA9F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1978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82969-FEF8-4CA6-AAAF-1411C3B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B9708-51CC-421A-BA21-0A7545B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A reliable demo should show a focused test, not a sprawling crawl.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39199-A31A-4888-A08B-AEF5DCD3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35E0B-018B-48C9-A1A6-989A65F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4616"/>
                </a:solidFill>
              </a:defRPr>
            </a:pPr>
            <a:r>
              <a:rPr sz="1650" b="1">
                <a:solidFill>
                  <a:srgbClr val="FA4616"/>
                </a:solidFill>
              </a:rPr>
              <a:t>Recommended test intent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5E679-71D6-49B8-927C-707D70D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Log in, open Dashboard, open Chat, open Roles, observe each page, then finish.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A5C0E-B0E8-443A-B0F3-6300DBC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9052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9525">
            <a:solidFill>
              <a:srgbClr val="FFD2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FECD2-1528-437C-AD68-08D21FF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4616"/>
                </a:solidFill>
              </a:defRPr>
            </a:pPr>
            <a:r>
              <a:rPr sz="1650" b="1">
                <a:solidFill>
                  <a:srgbClr val="FA4616"/>
                </a:solidFill>
              </a:rPr>
              <a:t>What judges see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E69F2-654C-44EF-BFB1-DCEDF92A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304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111F"/>
                </a:solidFill>
              </a:defRPr>
            </a:pPr>
            <a:r>
              <a:rPr sz="1800" b="0">
                <a:solidFill>
                  <a:srgbClr val="07111F"/>
                </a:solidFill>
              </a:rPr>
              <a:t>Browser launch</a:t>
            </a:r>
          </a:p>
          <a:p xmlns:a="http://schemas.openxmlformats.org/drawingml/2006/main">
            <a:pPr algn="l">
              <a:defRPr sz="1800" b="0">
                <a:solidFill>
                  <a:srgbClr val="07111F"/>
                </a:solidFill>
              </a:defRPr>
            </a:pPr>
            <a:r>
              <a:rPr sz="1800" b="0">
                <a:solidFill>
                  <a:srgbClr val="07111F"/>
                </a:solidFill>
              </a:rPr>
              <a:t>Authentication</a:t>
            </a:r>
          </a:p>
          <a:p xmlns:a="http://schemas.openxmlformats.org/drawingml/2006/main">
            <a:pPr algn="l">
              <a:defRPr sz="1800" b="0">
                <a:solidFill>
                  <a:srgbClr val="07111F"/>
                </a:solidFill>
              </a:defRPr>
            </a:pPr>
            <a:r>
              <a:rPr sz="1800" b="0">
                <a:solidFill>
                  <a:srgbClr val="07111F"/>
                </a:solidFill>
              </a:rPr>
              <a:t>Navigation steps</a:t>
            </a:r>
          </a:p>
          <a:p xmlns:a="http://schemas.openxmlformats.org/drawingml/2006/main">
            <a:pPr algn="l">
              <a:defRPr sz="1800" b="0">
                <a:solidFill>
                  <a:srgbClr val="07111F"/>
                </a:solidFill>
              </a:defRPr>
            </a:pPr>
            <a:r>
              <a:rPr sz="1800" b="0">
                <a:solidFill>
                  <a:srgbClr val="07111F"/>
                </a:solidFill>
              </a:rPr>
              <a:t>Run evidence</a:t>
            </a:r>
          </a:p>
          <a:p xmlns:a="http://schemas.openxmlformats.org/drawingml/2006/main">
            <a:pPr algn="l">
              <a:defRPr sz="1800" b="0">
                <a:solidFill>
                  <a:srgbClr val="07111F"/>
                </a:solidFill>
              </a:defRPr>
            </a:pPr>
            <a:r>
              <a:rPr sz="1800" b="0">
                <a:solidFill>
                  <a:srgbClr val="07111F"/>
                </a:solidFill>
              </a:rPr>
              <a:t>UiPath-ready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AA1F9-4570-45D0-AF78-5F2AD0D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8882B-B9EF-455F-AE5A-7FE44F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AA9AD-D3B8-456E-B198-895ED84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3738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83935-1417-4980-AF14-8BD53223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Built with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1BB9F-8237-4790-B48B-4D30628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A4616"/>
                </a:solidFill>
              </a:defRPr>
            </a:pPr>
            <a:r>
              <a:rPr sz="1725" b="1">
                <a:solidFill>
                  <a:srgbClr val="FA4616"/>
                </a:solidFill>
              </a:rPr>
              <a:t>UiPath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DB0E0-1853-445B-9E3C-DFFC965B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478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Test Cloud, Test Manager, Automation Cloud, UiPath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35D18-C5F8-4AC8-A916-6593BB6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87E2A-3ADD-4E2D-8F22-4A6E9380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C01FE-0664-4C0D-A913-A56BA432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React, TypeScript,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B4A7F-AE44-4870-9AB8-5B35670C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D220B-4388-4C90-90C4-A4855C0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51F41-1FE3-4A48-9358-A6263E1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Node.js, Fastify, BullMQ 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AB24D-11CE-4AB2-A3DE-093B819A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49288-F33D-44AA-8E0E-3A13C3A5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277E8-E8D5-4A14-A349-EAAEDBD2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Playwright browser execution, agent loop, screenshots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4FBCA-4271-42E2-AD88-285EC74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907B0-FCA8-4A6F-A54C-8AC3095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57FB6-F433-44F5-8D89-2C01437B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148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PostgreSQL for run history, Redis for queue and live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163DD-4042-4BBE-83DF-8628CAF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B431C-44C4-4A6B-8320-A4F4A6BE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D6488-FF0C-4E34-95A7-02A3BC79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815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OpenRouter, OpenAI, Anthropic Claude, Google Gemini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9EDDC-6193-4C43-9CED-32E30E0C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81B18-3302-4955-848B-B8FBC3CF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E3F5C-CAF8-4DEF-8FFB-09BCDB66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7A1C6-7FCB-4660-8AB4-2202519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761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5F775-FA27-44FE-9B28-FDF911F6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F62D5-1C4D-4286-809B-E48978D3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Agentic testing needs ops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DF072-C14A-40D0-A337-8EEF401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Queues, browser runtimes, stop signals, and live progress matter as much as model reasoning.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24A87-913A-499B-9CF2-0C1CA57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Evidence beats magic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40EC-CC37-4744-A379-00FCC85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A run is useful when a reviewer can inspect the steps and understand exactly what happened.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4506D-D01A-47C8-8E9C-4787CF3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A4616"/>
                </a:solidFill>
              </a:defRPr>
            </a:pPr>
            <a:r>
              <a:rPr sz="2100" b="1">
                <a:solidFill>
                  <a:srgbClr val="FA4616"/>
                </a:solidFill>
              </a:rPr>
              <a:t>UiPath gives agents a home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D263D-189F-4622-9A4F-502F9654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Test Cloud turns adaptive exploration into governed testing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F07C5-5737-4A32-9973-5864634E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638300" cy="28575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EA9D4-6B44-4226-84E4-8CAE5703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066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Trust comes from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7A099-63B3-4CFB-91FE-7B030ED5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69323-8D83-4E12-9613-C4401709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9E57B-940F-4F2D-AEEA-8F13FB37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4779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70B99-5AED-48B5-AA95-EA7DDA1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11F"/>
                </a:solidFill>
              </a:defRPr>
            </a:pPr>
            <a:r>
              <a:rPr sz="3300" b="1">
                <a:solidFill>
                  <a:srgbClr val="07111F"/>
                </a:solidFill>
              </a:rPr>
              <a:t>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386AD-4369-4301-BC3B-7FD13165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The next version deepens the UiPath connection: richer Test Manager mappings, artifact attachments, regression generation, and risk-based test selection.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13054-055F-4FE1-873D-01C12501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476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9525">
            <a:solidFill>
              <a:srgbClr val="FFD2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6DBB0-598E-40F0-AC2D-0B4A26E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4616"/>
                </a:solidFill>
              </a:defRPr>
            </a:pPr>
            <a:r>
              <a:rPr sz="1800" b="1">
                <a:solidFill>
                  <a:srgbClr val="FA4616"/>
                </a:solidFill>
              </a:rPr>
              <a:t>Test Manager 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AEB47-7031-4A38-BE93-8B6D483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Associate Talos runs with project, test set, and test case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31582-3F53-4CE7-8871-22479F0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4476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3D847-0B28-44A0-9C03-C702571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Evidence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CAEC7-E35F-4BCB-AC93-4B008DAC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Push screenshots, logs, JUnit, and run JSON into the governed review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12A7E-E431-4D20-877D-F29EA50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4476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A286D-01FC-460C-B431-A5EEABE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Regression drafting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87EDC-1ED6-45E2-8E0D-783D021B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Convert successful agentic paths into repeatable tests for future releases.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87E09-67BB-4586-815E-AA70B36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4476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DD029-3870-42EE-B019-41F0905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Risk-based orchestration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0AEA9-E277-44AB-94C1-E6A89290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Use history and change impact to decide which tests should run first.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41FFA-CED6-4782-8853-ABEB129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8F"/>
                </a:solidFill>
              </a:defRPr>
            </a:pPr>
            <a:r>
              <a:rPr sz="1950" b="1">
                <a:solidFill>
                  <a:srgbClr val="183B8F"/>
                </a:solidFill>
              </a:rPr>
              <a:t>Vision: AI explores, UiPath governs, humans decide.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8B37C-ED88-4E81-8322-3E15AED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44DB6-1D96-412A-9E21-943D152A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Talos Test Cloud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35F5D-3503-4322-B777-8334FEF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2727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2026-06-30T02:50:49.0300000Z</dcterms:created>
  <dcterms:modified xsi:type="dcterms:W3CDTF">2026-06-30T02:50:49.0300000Z</dcterms:modified>
</coreProperties>
</file>